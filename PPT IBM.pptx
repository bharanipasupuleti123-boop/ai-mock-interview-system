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66" r:id="rId10"/>
    <p:sldId id="267" r:id="rId11"/>
    <p:sldId id="268" r:id="rId12"/>
    <p:sldId id="2146847055" r:id="rId13"/>
    <p:sldId id="269" r:id="rId14"/>
    <p:sldId id="2146847058"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16-06-2026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6/16/2026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6/16/2026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6/16/2026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6/16/2026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6/16/2026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6/16/2026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6/16/2026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6/16/2026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6/16/2026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6/16/2026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6/16/2026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6/16/2026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streamlit.io/" TargetMode="External"/><Relationship Id="rId2" Type="http://schemas.openxmlformats.org/officeDocument/2006/relationships/hyperlink" Target="https://huggingface.co/" TargetMode="External"/><Relationship Id="rId1" Type="http://schemas.openxmlformats.org/officeDocument/2006/relationships/slideLayout" Target="../slideLayouts/slideLayout2.xml"/><Relationship Id="rId5" Type="http://schemas.openxmlformats.org/officeDocument/2006/relationships/hyperlink" Target="https://scikit-learn.org/stable/supervised_learning.html" TargetMode="External"/><Relationship Id="rId4" Type="http://schemas.openxmlformats.org/officeDocument/2006/relationships/hyperlink" Target="https://www.python.or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US" b="1" dirty="0">
                <a:solidFill>
                  <a:schemeClr val="accent1"/>
                </a:solidFill>
                <a:latin typeface="Arial" panose="020B0604020202020204" pitchFamily="34" charset="0"/>
                <a:cs typeface="Arial" panose="020B0604020202020204" pitchFamily="34" charset="0"/>
              </a:rPr>
              <a:t>AI Mock Interview System</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3202196" y="4058588"/>
            <a:ext cx="7980183"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Pasupuleti Bharani Kumar</a:t>
            </a:r>
          </a:p>
          <a:p>
            <a:pPr marL="457200" indent="-457200">
              <a:buAutoNum type="arabicPeriod"/>
            </a:pPr>
            <a:r>
              <a:rPr lang="en-US" sz="2000" b="1" dirty="0">
                <a:solidFill>
                  <a:schemeClr val="accent1">
                    <a:lumMod val="75000"/>
                  </a:schemeClr>
                </a:solidFill>
                <a:latin typeface="Arial"/>
                <a:cs typeface="Arial"/>
              </a:rPr>
              <a:t>College Name-  Vardhaman College of Engineering</a:t>
            </a:r>
          </a:p>
          <a:p>
            <a:pPr marL="457200" indent="-457200">
              <a:buAutoNum type="arabicPeriod"/>
            </a:pPr>
            <a:r>
              <a:rPr lang="en-US" sz="2000" b="1" dirty="0">
                <a:solidFill>
                  <a:schemeClr val="accent1">
                    <a:lumMod val="75000"/>
                  </a:schemeClr>
                </a:solidFill>
                <a:latin typeface="Arial"/>
                <a:cs typeface="Arial"/>
              </a:rPr>
              <a:t>Department- CSE</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buNone/>
            </a:pPr>
            <a:r>
              <a:rPr lang="en-IN" sz="2400" dirty="0"/>
              <a:t>Many students and job seekers struggle to prepare effectively for interviews due to a lack of real-time practice, personalized feedback, and access to professional guidance. Traditional interview preparation methods often fail to simulate realistic interview scenarios and do not provide instant evaluation of communication skills, technical responses, or confidence levels. This lack of structured practice can reduce a candidate’s readiness and performance in actual placement or job interviews.</a:t>
            </a:r>
            <a:endParaRPr lang="en-IN" sz="14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r>
              <a:rPr lang="en-IN" sz="2400" dirty="0"/>
              <a:t>The proposed system is an AI-powered mock interview platform that simulates real interview experiences by generating personalized HR and technical questions based on candidate skills, experience, and target role. It evaluates responses and provides feedback to improve interview performance, communication skills, and confidence. The system offers a structured practice environment that helps users identify strengths and areas for improvement. It also enables candidates to prepare effectively for placement drives and professional job interviews.</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3" name="Rectangle 1">
            <a:extLst>
              <a:ext uri="{FF2B5EF4-FFF2-40B4-BE49-F238E27FC236}">
                <a16:creationId xmlns:a16="http://schemas.microsoft.com/office/drawing/2014/main" id="{0614F04E-6F49-1ECF-2A47-F63BBF04A3AC}"/>
              </a:ext>
            </a:extLst>
          </p:cNvPr>
          <p:cNvSpPr>
            <a:spLocks noGrp="1" noChangeArrowheads="1"/>
          </p:cNvSpPr>
          <p:nvPr>
            <p:ph idx="1"/>
          </p:nvPr>
        </p:nvSpPr>
        <p:spPr bwMode="auto">
          <a:xfrm>
            <a:off x="581192" y="2299861"/>
            <a:ext cx="10843892"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defTabSz="914400" eaLnBrk="0" fontAlgn="base" hangingPunct="0">
              <a:lnSpc>
                <a:spcPct val="100000"/>
              </a:lnSpc>
              <a:spcBef>
                <a:spcPct val="0"/>
              </a:spcBef>
              <a:spcAft>
                <a:spcPct val="0"/>
              </a:spcAft>
              <a:buClrTx/>
              <a:buSzTx/>
              <a:buAutoNum type="arabicPeriod"/>
            </a:pPr>
            <a:r>
              <a:rPr lang="en-IN" sz="2400" dirty="0"/>
              <a:t>The candidate enters personal details, skills, experience, target role, and interview difficulty.</a:t>
            </a:r>
          </a:p>
          <a:p>
            <a:pPr marL="342900" lvl="0" indent="-342900" defTabSz="914400" eaLnBrk="0" fontAlgn="base" hangingPunct="0">
              <a:lnSpc>
                <a:spcPct val="100000"/>
              </a:lnSpc>
              <a:spcBef>
                <a:spcPct val="0"/>
              </a:spcBef>
              <a:spcAft>
                <a:spcPct val="0"/>
              </a:spcAft>
              <a:buClrTx/>
              <a:buSzTx/>
              <a:buAutoNum type="arabicPeriod"/>
            </a:pPr>
            <a:r>
              <a:rPr lang="en-IN" sz="2400" dirty="0"/>
              <a:t>The system generates personalized HR and technical interview questions.</a:t>
            </a:r>
          </a:p>
          <a:p>
            <a:pPr marL="342900" lvl="0" indent="-342900" defTabSz="914400" eaLnBrk="0" fontAlgn="base" hangingPunct="0">
              <a:lnSpc>
                <a:spcPct val="100000"/>
              </a:lnSpc>
              <a:spcBef>
                <a:spcPct val="0"/>
              </a:spcBef>
              <a:spcAft>
                <a:spcPct val="0"/>
              </a:spcAft>
              <a:buClrTx/>
              <a:buSzTx/>
              <a:buAutoNum type="arabicPeriod"/>
            </a:pPr>
            <a:r>
              <a:rPr lang="en-IN" sz="2400" dirty="0"/>
              <a:t>The candidate responds to questions through an interactive interview session.</a:t>
            </a:r>
          </a:p>
          <a:p>
            <a:pPr marL="342900" lvl="0" indent="-342900" defTabSz="914400" eaLnBrk="0" fontAlgn="base" hangingPunct="0">
              <a:lnSpc>
                <a:spcPct val="100000"/>
              </a:lnSpc>
              <a:spcBef>
                <a:spcPct val="0"/>
              </a:spcBef>
              <a:spcAft>
                <a:spcPct val="0"/>
              </a:spcAft>
              <a:buClrTx/>
              <a:buSzTx/>
              <a:buAutoNum type="arabicPeriod"/>
            </a:pPr>
            <a:r>
              <a:rPr lang="en-IN" sz="2400" dirty="0"/>
              <a:t>The system </a:t>
            </a:r>
            <a:r>
              <a:rPr lang="en-IN" sz="2400" dirty="0" err="1"/>
              <a:t>analyzes</a:t>
            </a:r>
            <a:r>
              <a:rPr lang="en-IN" sz="2400" dirty="0"/>
              <a:t> responses and evaluates performance.</a:t>
            </a:r>
          </a:p>
          <a:p>
            <a:pPr marL="342900" lvl="0" indent="-342900" defTabSz="914400" eaLnBrk="0" fontAlgn="base" hangingPunct="0">
              <a:lnSpc>
                <a:spcPct val="100000"/>
              </a:lnSpc>
              <a:spcBef>
                <a:spcPct val="0"/>
              </a:spcBef>
              <a:spcAft>
                <a:spcPct val="0"/>
              </a:spcAft>
              <a:buClrTx/>
              <a:buSzTx/>
              <a:buAutoNum type="arabicPeriod"/>
            </a:pPr>
            <a:r>
              <a:rPr lang="en-IN" sz="2400" dirty="0"/>
              <a:t>A detailed feedback report is generated with strengths, weaknesses, and improvement suggestions.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dirty="0"/>
          </a:p>
        </p:txBody>
      </p:sp>
      <p:sp>
        <p:nvSpPr>
          <p:cNvPr id="3" name="Rectangle 1">
            <a:extLst>
              <a:ext uri="{FF2B5EF4-FFF2-40B4-BE49-F238E27FC236}">
                <a16:creationId xmlns:a16="http://schemas.microsoft.com/office/drawing/2014/main" id="{36B1088C-89EA-3F94-B807-2B09819E8AD8}"/>
              </a:ext>
            </a:extLst>
          </p:cNvPr>
          <p:cNvSpPr>
            <a:spLocks noGrp="1" noChangeArrowheads="1"/>
          </p:cNvSpPr>
          <p:nvPr>
            <p:ph idx="1"/>
          </p:nvPr>
        </p:nvSpPr>
        <p:spPr bwMode="auto">
          <a:xfrm>
            <a:off x="581192" y="3315522"/>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D63B7316-EC21-4B9C-110D-5C9ABA088C15}"/>
              </a:ext>
            </a:extLst>
          </p:cNvPr>
          <p:cNvSpPr txBox="1"/>
          <p:nvPr/>
        </p:nvSpPr>
        <p:spPr>
          <a:xfrm>
            <a:off x="3048000" y="3246792"/>
            <a:ext cx="6096000" cy="2031325"/>
          </a:xfrm>
          <a:prstGeom prst="rect">
            <a:avLst/>
          </a:prstGeom>
          <a:noFill/>
        </p:spPr>
        <p:txBody>
          <a:bodyPr wrap="square">
            <a:spAutoFit/>
          </a:bodyPr>
          <a:lstStyle/>
          <a:p>
            <a:pPr marL="342900" indent="-342900">
              <a:buAutoNum type="arabicPeriod"/>
            </a:pPr>
            <a:r>
              <a:rPr lang="en-IN" dirty="0"/>
              <a:t>Collect candidate details (name, skills, experience, target role, difficulty level).</a:t>
            </a:r>
          </a:p>
          <a:p>
            <a:pPr marL="342900" indent="-342900">
              <a:buAutoNum type="arabicPeriod"/>
            </a:pPr>
            <a:r>
              <a:rPr lang="en-IN" dirty="0"/>
              <a:t>Generate personalized HR and technical questions using AI.</a:t>
            </a:r>
          </a:p>
          <a:p>
            <a:pPr marL="342900" indent="-342900">
              <a:buAutoNum type="arabicPeriod"/>
            </a:pPr>
            <a:r>
              <a:rPr lang="en-IN" dirty="0"/>
              <a:t>Conduct an interactive interview session.</a:t>
            </a:r>
          </a:p>
          <a:p>
            <a:pPr marL="342900" indent="-342900">
              <a:buAutoNum type="arabicPeriod"/>
            </a:pPr>
            <a:r>
              <a:rPr lang="en-IN" dirty="0"/>
              <a:t>Store and </a:t>
            </a:r>
            <a:r>
              <a:rPr lang="en-IN" dirty="0" err="1"/>
              <a:t>analyze</a:t>
            </a:r>
            <a:r>
              <a:rPr lang="en-IN" dirty="0"/>
              <a:t> candidate responses.</a:t>
            </a:r>
          </a:p>
          <a:p>
            <a:pPr marL="342900" indent="-342900">
              <a:buAutoNum type="arabicPeriod"/>
            </a:pPr>
            <a:r>
              <a:rPr lang="en-IN" dirty="0"/>
              <a:t>Generate performance feedback and recommendations.</a:t>
            </a:r>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3" name="Rectangle 1">
            <a:extLst>
              <a:ext uri="{FF2B5EF4-FFF2-40B4-BE49-F238E27FC236}">
                <a16:creationId xmlns:a16="http://schemas.microsoft.com/office/drawing/2014/main" id="{EACDFCCA-3998-2A0E-AE71-80AFE8A15F7F}"/>
              </a:ext>
            </a:extLst>
          </p:cNvPr>
          <p:cNvSpPr>
            <a:spLocks noGrp="1" noChangeArrowheads="1"/>
          </p:cNvSpPr>
          <p:nvPr>
            <p:ph idx="1"/>
          </p:nvPr>
        </p:nvSpPr>
        <p:spPr bwMode="auto">
          <a:xfrm>
            <a:off x="581192" y="2847540"/>
            <a:ext cx="4710475" cy="416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7" name="Rectangle 3">
            <a:extLst>
              <a:ext uri="{FF2B5EF4-FFF2-40B4-BE49-F238E27FC236}">
                <a16:creationId xmlns:a16="http://schemas.microsoft.com/office/drawing/2014/main" id="{BBCE0E30-F38C-D82A-6AE5-ECF63EAB5E53}"/>
              </a:ext>
            </a:extLst>
          </p:cNvPr>
          <p:cNvSpPr>
            <a:spLocks noChangeArrowheads="1"/>
          </p:cNvSpPr>
          <p:nvPr/>
        </p:nvSpPr>
        <p:spPr bwMode="auto">
          <a:xfrm>
            <a:off x="778933" y="2990334"/>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3" name="TextBox 2">
            <a:extLst>
              <a:ext uri="{FF2B5EF4-FFF2-40B4-BE49-F238E27FC236}">
                <a16:creationId xmlns:a16="http://schemas.microsoft.com/office/drawing/2014/main" id="{A39C82B0-CBA2-0FD2-0400-979E31AC4978}"/>
              </a:ext>
            </a:extLst>
          </p:cNvPr>
          <p:cNvSpPr txBox="1"/>
          <p:nvPr/>
        </p:nvSpPr>
        <p:spPr>
          <a:xfrm>
            <a:off x="668866" y="1525601"/>
            <a:ext cx="6096000" cy="369332"/>
          </a:xfrm>
          <a:prstGeom prst="rect">
            <a:avLst/>
          </a:prstGeom>
          <a:noFill/>
        </p:spPr>
        <p:txBody>
          <a:bodyPr wrap="square">
            <a:spAutoFit/>
          </a:bodyPr>
          <a:lstStyle/>
          <a:p>
            <a:r>
              <a:rPr lang="en-US" dirty="0">
                <a:hlinkClick r:id="rId2"/>
              </a:rPr>
              <a:t>Hugging Face – The AI community building the future.</a:t>
            </a:r>
            <a:endParaRPr lang="en-IN" dirty="0"/>
          </a:p>
        </p:txBody>
      </p:sp>
      <p:sp>
        <p:nvSpPr>
          <p:cNvPr id="6" name="TextBox 5">
            <a:extLst>
              <a:ext uri="{FF2B5EF4-FFF2-40B4-BE49-F238E27FC236}">
                <a16:creationId xmlns:a16="http://schemas.microsoft.com/office/drawing/2014/main" id="{6868E3FB-22A7-E0B8-4581-182B6AF5A531}"/>
              </a:ext>
            </a:extLst>
          </p:cNvPr>
          <p:cNvSpPr txBox="1"/>
          <p:nvPr/>
        </p:nvSpPr>
        <p:spPr>
          <a:xfrm>
            <a:off x="668866" y="2118267"/>
            <a:ext cx="6096000" cy="369332"/>
          </a:xfrm>
          <a:prstGeom prst="rect">
            <a:avLst/>
          </a:prstGeom>
          <a:noFill/>
        </p:spPr>
        <p:txBody>
          <a:bodyPr wrap="square">
            <a:spAutoFit/>
          </a:bodyPr>
          <a:lstStyle/>
          <a:p>
            <a:r>
              <a:rPr lang="en-US" dirty="0" err="1">
                <a:hlinkClick r:id="rId3"/>
              </a:rPr>
              <a:t>Streamlit</a:t>
            </a:r>
            <a:r>
              <a:rPr lang="en-US" dirty="0">
                <a:hlinkClick r:id="rId3"/>
              </a:rPr>
              <a:t> • A faster way to build and share data apps</a:t>
            </a:r>
            <a:endParaRPr lang="en-IN" dirty="0"/>
          </a:p>
        </p:txBody>
      </p:sp>
      <p:sp>
        <p:nvSpPr>
          <p:cNvPr id="8" name="TextBox 7">
            <a:extLst>
              <a:ext uri="{FF2B5EF4-FFF2-40B4-BE49-F238E27FC236}">
                <a16:creationId xmlns:a16="http://schemas.microsoft.com/office/drawing/2014/main" id="{A0AED30D-1BDE-D15E-24BF-CDF91FB17E3B}"/>
              </a:ext>
            </a:extLst>
          </p:cNvPr>
          <p:cNvSpPr txBox="1"/>
          <p:nvPr/>
        </p:nvSpPr>
        <p:spPr>
          <a:xfrm>
            <a:off x="668866" y="2710933"/>
            <a:ext cx="6096000" cy="369332"/>
          </a:xfrm>
          <a:prstGeom prst="rect">
            <a:avLst/>
          </a:prstGeom>
          <a:noFill/>
        </p:spPr>
        <p:txBody>
          <a:bodyPr wrap="square">
            <a:spAutoFit/>
          </a:bodyPr>
          <a:lstStyle/>
          <a:p>
            <a:r>
              <a:rPr lang="en-IN" dirty="0">
                <a:hlinkClick r:id="rId4"/>
              </a:rPr>
              <a:t>Welcome to Python.org</a:t>
            </a:r>
            <a:endParaRPr lang="en-IN" dirty="0"/>
          </a:p>
        </p:txBody>
      </p:sp>
      <p:sp>
        <p:nvSpPr>
          <p:cNvPr id="10" name="TextBox 9">
            <a:extLst>
              <a:ext uri="{FF2B5EF4-FFF2-40B4-BE49-F238E27FC236}">
                <a16:creationId xmlns:a16="http://schemas.microsoft.com/office/drawing/2014/main" id="{60239F6C-608D-FFC0-AE73-B5FE2296234F}"/>
              </a:ext>
            </a:extLst>
          </p:cNvPr>
          <p:cNvSpPr txBox="1"/>
          <p:nvPr/>
        </p:nvSpPr>
        <p:spPr>
          <a:xfrm>
            <a:off x="668866" y="3303599"/>
            <a:ext cx="6096000" cy="369332"/>
          </a:xfrm>
          <a:prstGeom prst="rect">
            <a:avLst/>
          </a:prstGeom>
          <a:noFill/>
        </p:spPr>
        <p:txBody>
          <a:bodyPr wrap="square">
            <a:spAutoFit/>
          </a:bodyPr>
          <a:lstStyle/>
          <a:p>
            <a:r>
              <a:rPr lang="en-US" dirty="0">
                <a:hlinkClick r:id="rId5"/>
              </a:rPr>
              <a:t>1. Supervised learning — scikit-learn 1.8.0 documentation</a:t>
            </a:r>
            <a:endParaRPr lang="en-IN" dirty="0"/>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dirty="0" err="1"/>
              <a:t>Github</a:t>
            </a:r>
            <a:r>
              <a:rPr lang="en-US" dirty="0"/>
              <a:t> link</a:t>
            </a:r>
            <a:endParaRPr lang="en-IN" dirty="0"/>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p:txBody>
          <a:bodyPr/>
          <a:lstStyle/>
          <a:p>
            <a:r>
              <a:rPr lang="en-IN" dirty="0" err="1"/>
              <a:t>Github</a:t>
            </a:r>
            <a:r>
              <a:rPr lang="en-IN" dirty="0"/>
              <a:t> Link :</a:t>
            </a:r>
          </a:p>
          <a:p>
            <a:r>
              <a:rPr lang="en-IN" dirty="0"/>
              <a:t>Deployment Link: </a:t>
            </a:r>
            <a:r>
              <a:rPr lang="en-IN" dirty="0" err="1"/>
              <a:t>Streamlit</a:t>
            </a:r>
            <a:r>
              <a:rPr lang="en-IN" dirty="0"/>
              <a:t> or </a:t>
            </a:r>
            <a:r>
              <a:rPr lang="en-IN" dirty="0" err="1"/>
              <a:t>gradio</a:t>
            </a:r>
            <a:r>
              <a:rPr lang="en-IN" dirty="0"/>
              <a:t>  links</a:t>
            </a:r>
          </a:p>
        </p:txBody>
      </p:sp>
    </p:spTree>
    <p:extLst>
      <p:ext uri="{BB962C8B-B14F-4D97-AF65-F5344CB8AC3E}">
        <p14:creationId xmlns:p14="http://schemas.microsoft.com/office/powerpoint/2010/main" val="19959093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http://purl.org/dc/terms/"/>
    <ds:schemaRef ds:uri="9162bd5b-4ed9-4da3-b376-05204580ba3f"/>
    <ds:schemaRef ds:uri="http://purl.org/dc/elements/1.1/"/>
    <ds:schemaRef ds:uri="http://purl.org/dc/dcmitype/"/>
    <ds:schemaRef ds:uri="http://schemas.microsoft.com/office/2006/documentManagement/types"/>
    <ds:schemaRef ds:uri="http://schemas.openxmlformats.org/package/2006/metadata/core-properties"/>
    <ds:schemaRef ds:uri="c0fa2617-96bd-425d-8578-e93563fe37c5"/>
    <ds:schemaRef ds:uri="http://www.w3.org/XML/1998/namespace"/>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1054</TotalTime>
  <Words>368</Words>
  <Application>Microsoft Office PowerPoint</Application>
  <PresentationFormat>Widescreen</PresentationFormat>
  <Paragraphs>45</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Franklin Gothic Book</vt:lpstr>
      <vt:lpstr>Franklin Gothic Demi</vt:lpstr>
      <vt:lpstr>Wingdings 2</vt:lpstr>
      <vt:lpstr>DividendVTI</vt:lpstr>
      <vt:lpstr>AI Mock Interview System</vt:lpstr>
      <vt:lpstr>OUTLINE</vt:lpstr>
      <vt:lpstr>Problem Statement</vt:lpstr>
      <vt:lpstr>Proposed Solution</vt:lpstr>
      <vt:lpstr>System  Approach</vt:lpstr>
      <vt:lpstr>Algorithm &amp; Deployment</vt:lpstr>
      <vt:lpstr>Result</vt:lpstr>
      <vt:lpstr>Conclusion</vt:lpstr>
      <vt:lpstr>PowerPoint Presentation</vt:lpstr>
      <vt:lpstr>References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bharanikumar049@outlook.com</cp:lastModifiedBy>
  <cp:revision>38</cp:revision>
  <dcterms:created xsi:type="dcterms:W3CDTF">2021-05-26T16:50:10Z</dcterms:created>
  <dcterms:modified xsi:type="dcterms:W3CDTF">2026-06-16T12:32:32Z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